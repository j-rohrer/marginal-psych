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E73"/>
    <a:srgbClr val="55B2E7"/>
    <a:srgbClr val="BBBBBB"/>
    <a:srgbClr val="007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98"/>
    <p:restoredTop sz="94680"/>
  </p:normalViewPr>
  <p:slideViewPr>
    <p:cSldViewPr snapToGrid="0">
      <p:cViewPr>
        <p:scale>
          <a:sx n="110" d="100"/>
          <a:sy n="110" d="100"/>
        </p:scale>
        <p:origin x="-8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DC4261-E28A-E412-79DD-D34611A473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816272C-D107-264D-03C8-27C6AAA0D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CC9DBD-B0E8-D7AF-13EE-F5D7722FB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4F49-FEBB-FF42-B278-30C4F47372F7}" type="datetimeFigureOut">
              <a:rPr lang="de-DE" smtClean="0"/>
              <a:t>22.10.25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E21C1C-4C85-A4E5-2EC4-E4ACE02B9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B461D9-347D-1E71-9283-CE3433702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5D694-D01B-B74B-9867-E942F2B761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0742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8A2D33-8671-F971-5F24-56E8CA56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401528-A78E-F46B-B8E8-68141F330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B8DEDD-E673-C06E-DA7D-9B95FF381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4F49-FEBB-FF42-B278-30C4F47372F7}" type="datetimeFigureOut">
              <a:rPr lang="de-DE" smtClean="0"/>
              <a:t>22.10.25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4DB191-FFF6-6C3C-DCC5-790063C8C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1086F4-DE06-B524-800F-24E823440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5D694-D01B-B74B-9867-E942F2B761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6520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63B5DD-170D-D66A-1A80-823FFCF0E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65210E1-A313-FF56-3295-8DF346143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308CD4-7FFA-D87D-878F-C94564CA3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4F49-FEBB-FF42-B278-30C4F47372F7}" type="datetimeFigureOut">
              <a:rPr lang="de-DE" smtClean="0"/>
              <a:t>22.10.25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A10F93-661C-DB01-7FE1-87F19DA62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C69A13-EC4B-71FB-63E7-035048A52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5D694-D01B-B74B-9867-E942F2B761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3294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26194B-284D-3FD5-11B2-4A2509156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88299D-108F-43A2-4C20-379B95521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651ABFA-82A4-FDE8-7241-0B359ACD1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B426147-7892-4160-64F9-83E1DF33C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4F49-FEBB-FF42-B278-30C4F47372F7}" type="datetimeFigureOut">
              <a:rPr lang="de-DE" smtClean="0"/>
              <a:t>22.10.25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9D04D62-AACC-19A8-7407-6C7B68AE2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5361214-A39B-8ACD-ABD2-76E764FC9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5D694-D01B-B74B-9867-E942F2B761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9981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2AAFCC-89C5-2D32-D0E3-D01A02036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A02CF76-783B-2245-3671-9F9F838BB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C801B44-078F-DB66-F109-B3EDAE998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DE9D711-740C-EEA5-C416-0F747C2B95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899D762-EADD-DC49-CD5C-54BD8F17B8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AC19BF5-5465-FDCA-488A-5218DB7FF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4F49-FEBB-FF42-B278-30C4F47372F7}" type="datetimeFigureOut">
              <a:rPr lang="de-DE" smtClean="0"/>
              <a:t>22.10.25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A5B60D9-2B8E-FD27-539C-47F409B2B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85C645A-CFBC-582B-FB5B-008E1F932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5D694-D01B-B74B-9867-E942F2B761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822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ABA397-954A-AE8B-B47B-01D8B2B4B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4A356DC-862B-C80F-D38A-302237674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4F49-FEBB-FF42-B278-30C4F47372F7}" type="datetimeFigureOut">
              <a:rPr lang="de-DE" smtClean="0"/>
              <a:t>22.10.25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D9543B-9F1F-E7EB-8B0B-5977958A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4E941E7-2EF4-F09E-151A-3BFA80ADC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5D694-D01B-B74B-9867-E942F2B761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70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D9ED496-9429-61B4-4520-6BCFAEB2A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4F49-FEBB-FF42-B278-30C4F47372F7}" type="datetimeFigureOut">
              <a:rPr lang="de-DE" smtClean="0"/>
              <a:t>22.10.25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EC9CB75-6AC5-9B96-BFE6-361A388CD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C1BCB9C-ECC0-46EB-8E61-6D81B475A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5D694-D01B-B74B-9867-E942F2B761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0689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73D082-A083-B708-42EA-0B871911F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A4D37C-2EFB-55EC-E538-C054D288D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E647D24-EF77-11B6-9339-C274F5E1C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5A09684-AC33-1F5E-33AF-23D98459A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4F49-FEBB-FF42-B278-30C4F47372F7}" type="datetimeFigureOut">
              <a:rPr lang="de-DE" smtClean="0"/>
              <a:t>22.10.25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9D71EE9-FB3F-D009-2336-BECB03A45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0893F11-7235-1F40-91F7-A4DA92BCD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5D694-D01B-B74B-9867-E942F2B761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0108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FA0395-7DAF-8F86-C35D-F079F5572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2CC5851-AE5B-8E21-6A53-B0FFB7B39B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C91F385-F637-D886-0E24-E39E79B5F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CA75CF2-EBCD-F597-6265-4A38E1691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4F49-FEBB-FF42-B278-30C4F47372F7}" type="datetimeFigureOut">
              <a:rPr lang="de-DE" smtClean="0"/>
              <a:t>22.10.25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2058776-5C5E-D2FB-DA73-7BAF82735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0653C5-4AD4-6C68-CDC3-8BF014000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5D694-D01B-B74B-9867-E942F2B761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7287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1D417A-9DBD-307C-16DC-D843D8142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6C6D343-2F38-4479-EBEB-FD7111927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705CF1-5F9E-BC52-6BCE-B6EFDFF4B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4F49-FEBB-FF42-B278-30C4F47372F7}" type="datetimeFigureOut">
              <a:rPr lang="de-DE" smtClean="0"/>
              <a:t>22.10.25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5998D9-6F6E-D5E5-4A1D-58E22F919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44FCC5-8C4D-E019-7DE7-9EEF0F5D1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5D694-D01B-B74B-9867-E942F2B761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8468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E5852FB-E76E-BB36-A782-1E5F2078E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E78EE22-2AC4-F801-1306-5A880102D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61709C-D37A-565D-72CA-74909D263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4F49-FEBB-FF42-B278-30C4F47372F7}" type="datetimeFigureOut">
              <a:rPr lang="de-DE" smtClean="0"/>
              <a:t>22.10.25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3E17E32-B458-466B-7D00-C141AF8D2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2ED8A2-DF99-E244-D232-9F274366B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5D694-D01B-B74B-9867-E942F2B761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2097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61CAF0E-42DF-12D7-3796-121DDF9C6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21D8363-292E-6D0C-9E92-6A95A6169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5B1B8E-E6AC-EEDB-724E-74F382ABFB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74F49-FEBB-FF42-B278-30C4F47372F7}" type="datetimeFigureOut">
              <a:rPr lang="de-DE" smtClean="0"/>
              <a:t>22.10.25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1DAF5EE-573E-A1A4-EEED-5712BCF3D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F3C15B-FF55-E790-B1AE-3CBE8086E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A5D694-D01B-B74B-9867-E942F2B761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4388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559E6A9-6ED3-3D93-4D25-1ADC4298B2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97523" y="712177"/>
            <a:ext cx="5641729" cy="4231297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A2BDC210-9C74-5705-DD54-FDB26C508253}"/>
              </a:ext>
            </a:extLst>
          </p:cNvPr>
          <p:cNvSpPr txBox="1"/>
          <p:nvPr/>
        </p:nvSpPr>
        <p:spPr>
          <a:xfrm>
            <a:off x="5416144" y="1036975"/>
            <a:ext cx="219676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rgbClr val="55B2E7"/>
                </a:solidFill>
                <a:latin typeface="Helvetica" pitchFamily="2" charset="0"/>
                <a:cs typeface="Consolas" panose="020B0609020204030204" pitchFamily="49" charset="0"/>
              </a:rPr>
              <a:t>Risk </a:t>
            </a:r>
            <a:r>
              <a:rPr lang="de-DE" sz="1100" dirty="0" err="1">
                <a:solidFill>
                  <a:srgbClr val="55B2E7"/>
                </a:solidFill>
                <a:latin typeface="Helvetica" pitchFamily="2" charset="0"/>
                <a:cs typeface="Consolas" panose="020B0609020204030204" pitchFamily="49" charset="0"/>
              </a:rPr>
              <a:t>difference</a:t>
            </a:r>
            <a:r>
              <a:rPr lang="de-DE" sz="1100" dirty="0">
                <a:solidFill>
                  <a:srgbClr val="55B2E7"/>
                </a:solidFill>
                <a:latin typeface="Helvetica" pitchFamily="2" charset="0"/>
                <a:cs typeface="Consolas" panose="020B0609020204030204" pitchFamily="49" charset="0"/>
              </a:rPr>
              <a:t> </a:t>
            </a:r>
            <a:r>
              <a:rPr lang="de-DE" sz="1100" dirty="0" err="1">
                <a:solidFill>
                  <a:srgbClr val="55B2E7"/>
                </a:solidFill>
                <a:latin typeface="Helvetica" pitchFamily="2" charset="0"/>
                <a:cs typeface="Consolas" panose="020B0609020204030204" pitchFamily="49" charset="0"/>
              </a:rPr>
              <a:t>of</a:t>
            </a:r>
            <a:r>
              <a:rPr lang="de-DE" sz="1100" dirty="0">
                <a:solidFill>
                  <a:srgbClr val="55B2E7"/>
                </a:solidFill>
                <a:latin typeface="Helvetica" pitchFamily="2" charset="0"/>
                <a:cs typeface="Consolas" panose="020B0609020204030204" pitchFamily="49" charset="0"/>
              </a:rPr>
              <a:t> 0.98 – 0.50 =  0.48, </a:t>
            </a:r>
            <a:r>
              <a:rPr lang="de-DE" sz="1100" dirty="0" err="1">
                <a:solidFill>
                  <a:srgbClr val="55B2E7"/>
                </a:solidFill>
                <a:latin typeface="Helvetica" pitchFamily="2" charset="0"/>
                <a:cs typeface="Consolas" panose="020B0609020204030204" pitchFamily="49" charset="0"/>
              </a:rPr>
              <a:t>or</a:t>
            </a:r>
            <a:r>
              <a:rPr lang="de-DE" sz="1100" dirty="0">
                <a:solidFill>
                  <a:srgbClr val="55B2E7"/>
                </a:solidFill>
                <a:latin typeface="Helvetica" pitchFamily="2" charset="0"/>
                <a:cs typeface="Consolas" panose="020B0609020204030204" pitchFamily="49" charset="0"/>
              </a:rPr>
              <a:t> 48 </a:t>
            </a:r>
            <a:r>
              <a:rPr lang="de-DE" sz="1100" dirty="0" err="1">
                <a:solidFill>
                  <a:srgbClr val="55B2E7"/>
                </a:solidFill>
                <a:latin typeface="Helvetica" pitchFamily="2" charset="0"/>
                <a:cs typeface="Consolas" panose="020B0609020204030204" pitchFamily="49" charset="0"/>
              </a:rPr>
              <a:t>percentage</a:t>
            </a:r>
            <a:r>
              <a:rPr lang="de-DE" sz="1100" dirty="0">
                <a:solidFill>
                  <a:srgbClr val="55B2E7"/>
                </a:solidFill>
                <a:latin typeface="Helvetica" pitchFamily="2" charset="0"/>
                <a:cs typeface="Consolas" panose="020B0609020204030204" pitchFamily="49" charset="0"/>
              </a:rPr>
              <a:t> </a:t>
            </a:r>
            <a:r>
              <a:rPr lang="de-DE" sz="1100" dirty="0" err="1">
                <a:solidFill>
                  <a:srgbClr val="55B2E7"/>
                </a:solidFill>
                <a:latin typeface="Helvetica" pitchFamily="2" charset="0"/>
                <a:cs typeface="Consolas" panose="020B0609020204030204" pitchFamily="49" charset="0"/>
              </a:rPr>
              <a:t>points</a:t>
            </a:r>
            <a:endParaRPr lang="de-DE" sz="1100" dirty="0">
              <a:solidFill>
                <a:srgbClr val="55B2E7"/>
              </a:solidFill>
              <a:latin typeface="Helvetica" pitchFamily="2" charset="0"/>
              <a:cs typeface="Consolas" panose="020B0609020204030204" pitchFamily="49" charset="0"/>
            </a:endParaRPr>
          </a:p>
          <a:p>
            <a:endParaRPr lang="de-DE" sz="1100" dirty="0">
              <a:solidFill>
                <a:srgbClr val="55B2E7"/>
              </a:solidFill>
              <a:latin typeface="Helvetica" pitchFamily="2" charset="0"/>
              <a:cs typeface="Consolas" panose="020B0609020204030204" pitchFamily="49" charset="0"/>
            </a:endParaRPr>
          </a:p>
          <a:p>
            <a:r>
              <a:rPr lang="de-DE" sz="1100" dirty="0">
                <a:solidFill>
                  <a:srgbClr val="55B2E7"/>
                </a:solidFill>
                <a:latin typeface="Helvetica" pitchFamily="2" charset="0"/>
                <a:cs typeface="Consolas" panose="020B0609020204030204" pitchFamily="49" charset="0"/>
              </a:rPr>
              <a:t>Risk </a:t>
            </a:r>
            <a:r>
              <a:rPr lang="de-DE" sz="1100" dirty="0" err="1">
                <a:solidFill>
                  <a:srgbClr val="55B2E7"/>
                </a:solidFill>
                <a:latin typeface="Helvetica" pitchFamily="2" charset="0"/>
                <a:cs typeface="Consolas" panose="020B0609020204030204" pitchFamily="49" charset="0"/>
              </a:rPr>
              <a:t>ratio</a:t>
            </a:r>
            <a:r>
              <a:rPr lang="de-DE" sz="1100" dirty="0">
                <a:solidFill>
                  <a:srgbClr val="55B2E7"/>
                </a:solidFill>
                <a:latin typeface="Helvetica" pitchFamily="2" charset="0"/>
                <a:cs typeface="Consolas" panose="020B0609020204030204" pitchFamily="49" charset="0"/>
              </a:rPr>
              <a:t> </a:t>
            </a:r>
            <a:r>
              <a:rPr lang="de-DE" sz="1100" dirty="0" err="1">
                <a:solidFill>
                  <a:srgbClr val="55B2E7"/>
                </a:solidFill>
                <a:latin typeface="Helvetica" pitchFamily="2" charset="0"/>
                <a:cs typeface="Consolas" panose="020B0609020204030204" pitchFamily="49" charset="0"/>
              </a:rPr>
              <a:t>of</a:t>
            </a:r>
            <a:r>
              <a:rPr lang="de-DE" sz="1100" dirty="0">
                <a:solidFill>
                  <a:srgbClr val="55B2E7"/>
                </a:solidFill>
                <a:latin typeface="Helvetica" pitchFamily="2" charset="0"/>
                <a:cs typeface="Consolas" panose="020B0609020204030204" pitchFamily="49" charset="0"/>
              </a:rPr>
              <a:t> 0.98/0.50 = 1.96</a:t>
            </a:r>
          </a:p>
          <a:p>
            <a:endParaRPr lang="de-DE" sz="1100" dirty="0">
              <a:solidFill>
                <a:srgbClr val="55B2E7"/>
              </a:solidFill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EBE8170D-976E-FBA2-0AA3-2B3261420856}"/>
              </a:ext>
            </a:extLst>
          </p:cNvPr>
          <p:cNvSpPr txBox="1"/>
          <p:nvPr/>
        </p:nvSpPr>
        <p:spPr>
          <a:xfrm>
            <a:off x="1454247" y="781001"/>
            <a:ext cx="23803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>
                <a:solidFill>
                  <a:srgbClr val="0072B2"/>
                </a:solidFill>
                <a:latin typeface="Helvetica" pitchFamily="2" charset="0"/>
                <a:cs typeface="Consolas" panose="020B0609020204030204" pitchFamily="49" charset="0"/>
              </a:rPr>
              <a:t>Predicted</a:t>
            </a:r>
            <a:r>
              <a:rPr lang="de-DE" sz="1100" dirty="0">
                <a:solidFill>
                  <a:srgbClr val="0072B2"/>
                </a:solidFill>
                <a:latin typeface="Helvetica" pitchFamily="2" charset="0"/>
                <a:cs typeface="Consolas" panose="020B0609020204030204" pitchFamily="49" charset="0"/>
              </a:rPr>
              <a:t> </a:t>
            </a:r>
            <a:r>
              <a:rPr lang="de-DE" sz="1100" dirty="0" err="1">
                <a:solidFill>
                  <a:srgbClr val="0072B2"/>
                </a:solidFill>
                <a:latin typeface="Helvetica" pitchFamily="2" charset="0"/>
                <a:cs typeface="Consolas" panose="020B0609020204030204" pitchFamily="49" charset="0"/>
              </a:rPr>
              <a:t>probability</a:t>
            </a:r>
            <a:r>
              <a:rPr lang="de-DE" sz="1100" dirty="0">
                <a:solidFill>
                  <a:srgbClr val="0072B2"/>
                </a:solidFill>
                <a:latin typeface="Helvetica" pitchFamily="2" charset="0"/>
                <a:cs typeface="Consolas" panose="020B0609020204030204" pitchFamily="49" charset="0"/>
              </a:rPr>
              <a:t> = 0.98 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72566CA-22A9-AC32-6708-B359CF296FE8}"/>
              </a:ext>
            </a:extLst>
          </p:cNvPr>
          <p:cNvSpPr txBox="1"/>
          <p:nvPr/>
        </p:nvSpPr>
        <p:spPr>
          <a:xfrm>
            <a:off x="1439496" y="2319750"/>
            <a:ext cx="23803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>
                <a:solidFill>
                  <a:srgbClr val="0072B2"/>
                </a:solidFill>
                <a:latin typeface="Helvetica" pitchFamily="2" charset="0"/>
                <a:cs typeface="Consolas" panose="020B0609020204030204" pitchFamily="49" charset="0"/>
              </a:rPr>
              <a:t>Predicted</a:t>
            </a:r>
            <a:r>
              <a:rPr lang="de-DE" sz="1100" dirty="0">
                <a:solidFill>
                  <a:srgbClr val="0072B2"/>
                </a:solidFill>
                <a:latin typeface="Helvetica" pitchFamily="2" charset="0"/>
                <a:cs typeface="Consolas" panose="020B0609020204030204" pitchFamily="49" charset="0"/>
              </a:rPr>
              <a:t> </a:t>
            </a:r>
            <a:r>
              <a:rPr lang="de-DE" sz="1100" dirty="0" err="1">
                <a:solidFill>
                  <a:srgbClr val="0072B2"/>
                </a:solidFill>
                <a:latin typeface="Helvetica" pitchFamily="2" charset="0"/>
                <a:cs typeface="Consolas" panose="020B0609020204030204" pitchFamily="49" charset="0"/>
              </a:rPr>
              <a:t>probability</a:t>
            </a:r>
            <a:r>
              <a:rPr lang="de-DE" sz="1100" dirty="0">
                <a:solidFill>
                  <a:srgbClr val="0072B2"/>
                </a:solidFill>
                <a:latin typeface="Helvetica" pitchFamily="2" charset="0"/>
                <a:cs typeface="Consolas" panose="020B0609020204030204" pitchFamily="49" charset="0"/>
              </a:rPr>
              <a:t> = 0.50 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11DA84F-B9C0-04A6-2D67-1F813749BC3F}"/>
              </a:ext>
            </a:extLst>
          </p:cNvPr>
          <p:cNvSpPr txBox="1"/>
          <p:nvPr/>
        </p:nvSpPr>
        <p:spPr>
          <a:xfrm>
            <a:off x="3834583" y="3829137"/>
            <a:ext cx="12521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>
                <a:solidFill>
                  <a:srgbClr val="0072B2"/>
                </a:solidFill>
                <a:latin typeface="Helvetica" pitchFamily="2" charset="0"/>
                <a:cs typeface="Consolas" panose="020B0609020204030204" pitchFamily="49" charset="0"/>
              </a:rPr>
              <a:t>Predicted</a:t>
            </a:r>
            <a:endParaRPr lang="de-DE" sz="1100" dirty="0">
              <a:solidFill>
                <a:srgbClr val="0072B2"/>
              </a:solidFill>
              <a:latin typeface="Helvetica" pitchFamily="2" charset="0"/>
              <a:cs typeface="Consolas" panose="020B0609020204030204" pitchFamily="49" charset="0"/>
            </a:endParaRPr>
          </a:p>
          <a:p>
            <a:r>
              <a:rPr lang="de-DE" sz="1100" dirty="0">
                <a:solidFill>
                  <a:srgbClr val="0072B2"/>
                </a:solidFill>
                <a:latin typeface="Helvetica" pitchFamily="2" charset="0"/>
                <a:cs typeface="Consolas" panose="020B0609020204030204" pitchFamily="49" charset="0"/>
              </a:rPr>
              <a:t>Log </a:t>
            </a:r>
            <a:r>
              <a:rPr lang="de-DE" sz="1100" dirty="0" err="1">
                <a:solidFill>
                  <a:srgbClr val="0072B2"/>
                </a:solidFill>
                <a:latin typeface="Helvetica" pitchFamily="2" charset="0"/>
                <a:cs typeface="Consolas" panose="020B0609020204030204" pitchFamily="49" charset="0"/>
              </a:rPr>
              <a:t>odds</a:t>
            </a:r>
            <a:r>
              <a:rPr lang="de-DE" sz="1100" dirty="0">
                <a:solidFill>
                  <a:srgbClr val="0072B2"/>
                </a:solidFill>
                <a:latin typeface="Helvetica" pitchFamily="2" charset="0"/>
                <a:cs typeface="Consolas" panose="020B0609020204030204" pitchFamily="49" charset="0"/>
              </a:rPr>
              <a:t> = 0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4340E83-4F5E-41CB-F19B-3B6C28A37DE8}"/>
              </a:ext>
            </a:extLst>
          </p:cNvPr>
          <p:cNvSpPr txBox="1"/>
          <p:nvPr/>
        </p:nvSpPr>
        <p:spPr>
          <a:xfrm>
            <a:off x="5422493" y="3829136"/>
            <a:ext cx="12521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>
                <a:solidFill>
                  <a:srgbClr val="0072B2"/>
                </a:solidFill>
                <a:latin typeface="Helvetica" pitchFamily="2" charset="0"/>
                <a:cs typeface="Consolas" panose="020B0609020204030204" pitchFamily="49" charset="0"/>
              </a:rPr>
              <a:t>Predicted</a:t>
            </a:r>
            <a:endParaRPr lang="de-DE" sz="1100" dirty="0">
              <a:solidFill>
                <a:srgbClr val="0072B2"/>
              </a:solidFill>
              <a:latin typeface="Helvetica" pitchFamily="2" charset="0"/>
              <a:cs typeface="Consolas" panose="020B0609020204030204" pitchFamily="49" charset="0"/>
            </a:endParaRPr>
          </a:p>
          <a:p>
            <a:r>
              <a:rPr lang="de-DE" sz="1100" dirty="0">
                <a:solidFill>
                  <a:srgbClr val="0072B2"/>
                </a:solidFill>
                <a:latin typeface="Helvetica" pitchFamily="2" charset="0"/>
                <a:cs typeface="Consolas" panose="020B0609020204030204" pitchFamily="49" charset="0"/>
              </a:rPr>
              <a:t>Log </a:t>
            </a:r>
            <a:r>
              <a:rPr lang="de-DE" sz="1100" dirty="0" err="1">
                <a:solidFill>
                  <a:srgbClr val="0072B2"/>
                </a:solidFill>
                <a:latin typeface="Helvetica" pitchFamily="2" charset="0"/>
                <a:cs typeface="Consolas" panose="020B0609020204030204" pitchFamily="49" charset="0"/>
              </a:rPr>
              <a:t>odds</a:t>
            </a:r>
            <a:r>
              <a:rPr lang="de-DE" sz="1100" dirty="0">
                <a:solidFill>
                  <a:srgbClr val="0072B2"/>
                </a:solidFill>
                <a:latin typeface="Helvetica" pitchFamily="2" charset="0"/>
                <a:cs typeface="Consolas" panose="020B0609020204030204" pitchFamily="49" charset="0"/>
              </a:rPr>
              <a:t> = 4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7B86756-2382-E890-47B5-F557D99E6E10}"/>
              </a:ext>
            </a:extLst>
          </p:cNvPr>
          <p:cNvSpPr txBox="1"/>
          <p:nvPr/>
        </p:nvSpPr>
        <p:spPr>
          <a:xfrm>
            <a:off x="3819833" y="2612381"/>
            <a:ext cx="159631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rgbClr val="55B2E7"/>
                </a:solidFill>
                <a:latin typeface="Helvetica" pitchFamily="2" charset="0"/>
                <a:cs typeface="Consolas" panose="020B0609020204030204" pitchFamily="49" charset="0"/>
              </a:rPr>
              <a:t>Log </a:t>
            </a:r>
            <a:r>
              <a:rPr lang="de-DE" sz="1100" dirty="0" err="1">
                <a:solidFill>
                  <a:srgbClr val="55B2E7"/>
                </a:solidFill>
                <a:latin typeface="Helvetica" pitchFamily="2" charset="0"/>
                <a:cs typeface="Consolas" panose="020B0609020204030204" pitchFamily="49" charset="0"/>
              </a:rPr>
              <a:t>odds</a:t>
            </a:r>
            <a:r>
              <a:rPr lang="de-DE" sz="1100" dirty="0">
                <a:solidFill>
                  <a:srgbClr val="55B2E7"/>
                </a:solidFill>
                <a:latin typeface="Helvetica" pitchFamily="2" charset="0"/>
                <a:cs typeface="Consolas" panose="020B0609020204030204" pitchFamily="49" charset="0"/>
              </a:rPr>
              <a:t> </a:t>
            </a:r>
            <a:r>
              <a:rPr lang="de-DE" sz="1100" dirty="0" err="1">
                <a:solidFill>
                  <a:srgbClr val="55B2E7"/>
                </a:solidFill>
                <a:latin typeface="Helvetica" pitchFamily="2" charset="0"/>
                <a:cs typeface="Consolas" panose="020B0609020204030204" pitchFamily="49" charset="0"/>
              </a:rPr>
              <a:t>difference</a:t>
            </a:r>
            <a:r>
              <a:rPr lang="de-DE" sz="1100" dirty="0">
                <a:solidFill>
                  <a:srgbClr val="55B2E7"/>
                </a:solidFill>
                <a:latin typeface="Helvetica" pitchFamily="2" charset="0"/>
                <a:cs typeface="Consolas" panose="020B0609020204030204" pitchFamily="49" charset="0"/>
              </a:rPr>
              <a:t> </a:t>
            </a:r>
            <a:r>
              <a:rPr lang="de-DE" sz="1100" dirty="0" err="1">
                <a:solidFill>
                  <a:srgbClr val="55B2E7"/>
                </a:solidFill>
                <a:latin typeface="Helvetica" pitchFamily="2" charset="0"/>
                <a:cs typeface="Consolas" panose="020B0609020204030204" pitchFamily="49" charset="0"/>
              </a:rPr>
              <a:t>of</a:t>
            </a:r>
            <a:r>
              <a:rPr lang="de-DE" sz="1100" dirty="0">
                <a:solidFill>
                  <a:srgbClr val="55B2E7"/>
                </a:solidFill>
                <a:latin typeface="Helvetica" pitchFamily="2" charset="0"/>
                <a:cs typeface="Consolas" panose="020B0609020204030204" pitchFamily="49" charset="0"/>
              </a:rPr>
              <a:t> 4 – 0 = </a:t>
            </a:r>
          </a:p>
          <a:p>
            <a:r>
              <a:rPr lang="de-DE" sz="1100" dirty="0">
                <a:solidFill>
                  <a:srgbClr val="55B2E7"/>
                </a:solidFill>
                <a:latin typeface="Helvetica" pitchFamily="2" charset="0"/>
                <a:cs typeface="Consolas" panose="020B0609020204030204" pitchFamily="49" charset="0"/>
              </a:rPr>
              <a:t>4 log </a:t>
            </a:r>
            <a:r>
              <a:rPr lang="de-DE" sz="1100" dirty="0" err="1">
                <a:solidFill>
                  <a:srgbClr val="55B2E7"/>
                </a:solidFill>
                <a:latin typeface="Helvetica" pitchFamily="2" charset="0"/>
                <a:cs typeface="Consolas" panose="020B0609020204030204" pitchFamily="49" charset="0"/>
              </a:rPr>
              <a:t>odds</a:t>
            </a:r>
            <a:endParaRPr lang="de-DE" sz="1100" dirty="0">
              <a:solidFill>
                <a:srgbClr val="55B2E7"/>
              </a:solidFill>
              <a:latin typeface="Helvetica" pitchFamily="2" charset="0"/>
              <a:cs typeface="Consolas" panose="020B0609020204030204" pitchFamily="49" charset="0"/>
            </a:endParaRPr>
          </a:p>
          <a:p>
            <a:endParaRPr lang="de-DE" sz="1100" dirty="0">
              <a:solidFill>
                <a:srgbClr val="55B2E7"/>
              </a:solidFill>
              <a:latin typeface="Helvetica" pitchFamily="2" charset="0"/>
              <a:cs typeface="Consolas" panose="020B0609020204030204" pitchFamily="49" charset="0"/>
            </a:endParaRPr>
          </a:p>
          <a:p>
            <a:r>
              <a:rPr lang="de-DE" sz="1100" dirty="0">
                <a:solidFill>
                  <a:srgbClr val="55B2E7"/>
                </a:solidFill>
                <a:latin typeface="Helvetica" pitchFamily="2" charset="0"/>
                <a:cs typeface="Consolas" panose="020B0609020204030204" pitchFamily="49" charset="0"/>
              </a:rPr>
              <a:t>Odds </a:t>
            </a:r>
            <a:r>
              <a:rPr lang="de-DE" sz="1100" dirty="0" err="1">
                <a:solidFill>
                  <a:srgbClr val="55B2E7"/>
                </a:solidFill>
                <a:latin typeface="Helvetica" pitchFamily="2" charset="0"/>
                <a:cs typeface="Consolas" panose="020B0609020204030204" pitchFamily="49" charset="0"/>
              </a:rPr>
              <a:t>ratio</a:t>
            </a:r>
            <a:r>
              <a:rPr lang="de-DE" sz="1100" dirty="0">
                <a:solidFill>
                  <a:srgbClr val="55B2E7"/>
                </a:solidFill>
                <a:latin typeface="Helvetica" pitchFamily="2" charset="0"/>
                <a:cs typeface="Consolas" panose="020B0609020204030204" pitchFamily="49" charset="0"/>
              </a:rPr>
              <a:t> </a:t>
            </a:r>
            <a:r>
              <a:rPr lang="de-DE" sz="1100" dirty="0" err="1">
                <a:solidFill>
                  <a:srgbClr val="55B2E7"/>
                </a:solidFill>
                <a:latin typeface="Helvetica" pitchFamily="2" charset="0"/>
                <a:cs typeface="Consolas" panose="020B0609020204030204" pitchFamily="49" charset="0"/>
              </a:rPr>
              <a:t>of</a:t>
            </a:r>
            <a:r>
              <a:rPr lang="de-DE" sz="1100" dirty="0">
                <a:solidFill>
                  <a:srgbClr val="55B2E7"/>
                </a:solidFill>
                <a:latin typeface="Helvetica" pitchFamily="2" charset="0"/>
                <a:cs typeface="Consolas" panose="020B0609020204030204" pitchFamily="49" charset="0"/>
              </a:rPr>
              <a:t> e</a:t>
            </a:r>
            <a:r>
              <a:rPr lang="de-DE" sz="1100" baseline="30000" dirty="0">
                <a:solidFill>
                  <a:srgbClr val="55B2E7"/>
                </a:solidFill>
                <a:latin typeface="Helvetica" pitchFamily="2" charset="0"/>
                <a:cs typeface="Consolas" panose="020B0609020204030204" pitchFamily="49" charset="0"/>
              </a:rPr>
              <a:t>4</a:t>
            </a:r>
            <a:r>
              <a:rPr lang="de-DE" sz="1100" dirty="0">
                <a:solidFill>
                  <a:srgbClr val="55B2E7"/>
                </a:solidFill>
                <a:latin typeface="Helvetica" pitchFamily="2" charset="0"/>
                <a:cs typeface="Consolas" panose="020B0609020204030204" pitchFamily="49" charset="0"/>
              </a:rPr>
              <a:t> ≈ 54.6</a:t>
            </a:r>
          </a:p>
          <a:p>
            <a:endParaRPr lang="de-DE" sz="1100" dirty="0">
              <a:solidFill>
                <a:srgbClr val="BBBBBB"/>
              </a:solidFill>
              <a:latin typeface="Helvetica" pitchFamily="2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423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Microsoft Macintosh PowerPoint</Application>
  <PresentationFormat>Breitbild</PresentationFormat>
  <Paragraphs>13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Rohrer</dc:creator>
  <cp:lastModifiedBy>Julia Rohrer</cp:lastModifiedBy>
  <cp:revision>8</cp:revision>
  <dcterms:created xsi:type="dcterms:W3CDTF">2025-05-23T14:51:54Z</dcterms:created>
  <dcterms:modified xsi:type="dcterms:W3CDTF">2025-10-22T11:52:12Z</dcterms:modified>
</cp:coreProperties>
</file>