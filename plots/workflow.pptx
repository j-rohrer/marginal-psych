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8999538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5E00"/>
    <a:srgbClr val="CC79A7"/>
    <a:srgbClr val="E69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27"/>
    <p:restoredTop sz="94680"/>
  </p:normalViewPr>
  <p:slideViewPr>
    <p:cSldViewPr snapToGrid="0">
      <p:cViewPr varScale="1">
        <p:scale>
          <a:sx n="109" d="100"/>
          <a:sy n="109" d="100"/>
        </p:scale>
        <p:origin x="41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4966" y="1496484"/>
            <a:ext cx="7649607" cy="3183467"/>
          </a:xfrm>
        </p:spPr>
        <p:txBody>
          <a:bodyPr anchor="b"/>
          <a:lstStyle>
            <a:lvl1pPr algn="ctr">
              <a:defRPr sz="590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4802717"/>
            <a:ext cx="6749654" cy="2207683"/>
          </a:xfrm>
        </p:spPr>
        <p:txBody>
          <a:bodyPr/>
          <a:lstStyle>
            <a:lvl1pPr marL="0" indent="0" algn="ctr">
              <a:buNone/>
              <a:defRPr sz="2362"/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86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981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2279653"/>
            <a:ext cx="7762102" cy="3803649"/>
          </a:xfrm>
        </p:spPr>
        <p:txBody>
          <a:bodyPr anchor="b"/>
          <a:lstStyle>
            <a:lvl1pPr>
              <a:defRPr sz="590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6119286"/>
            <a:ext cx="7762102" cy="2000249"/>
          </a:xfrm>
        </p:spPr>
        <p:txBody>
          <a:bodyPr/>
          <a:lstStyle>
            <a:lvl1pPr marL="0" indent="0">
              <a:buNone/>
              <a:defRPr sz="2362">
                <a:solidFill>
                  <a:schemeClr val="tx1"/>
                </a:solidFill>
              </a:defRPr>
            </a:lvl1pPr>
            <a:lvl2pPr marL="449976" indent="0">
              <a:buNone/>
              <a:defRPr sz="1968">
                <a:solidFill>
                  <a:schemeClr val="tx1">
                    <a:tint val="75000"/>
                  </a:schemeClr>
                </a:solidFill>
              </a:defRPr>
            </a:lvl2pPr>
            <a:lvl3pPr marL="899952" indent="0">
              <a:buNone/>
              <a:defRPr sz="1772">
                <a:solidFill>
                  <a:schemeClr val="tx1">
                    <a:tint val="75000"/>
                  </a:schemeClr>
                </a:solidFill>
              </a:defRPr>
            </a:lvl3pPr>
            <a:lvl4pPr marL="1349929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4pPr>
            <a:lvl5pPr marL="179990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5pPr>
            <a:lvl6pPr marL="2249881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6pPr>
            <a:lvl7pPr marL="2699857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7pPr>
            <a:lvl8pPr marL="314983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8pPr>
            <a:lvl9pPr marL="3599810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40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2434167"/>
            <a:ext cx="3824804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2434167"/>
            <a:ext cx="3824804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012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486835"/>
            <a:ext cx="7762102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2241551"/>
            <a:ext cx="3807226" cy="1098549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3340100"/>
            <a:ext cx="3807226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7" y="2241551"/>
            <a:ext cx="3825976" cy="1098549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7" y="3340100"/>
            <a:ext cx="3825976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87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162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59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609600"/>
            <a:ext cx="2902585" cy="2133600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1316568"/>
            <a:ext cx="4556016" cy="6498167"/>
          </a:xfrm>
        </p:spPr>
        <p:txBody>
          <a:bodyPr/>
          <a:lstStyle>
            <a:lvl1pPr>
              <a:defRPr sz="3149"/>
            </a:lvl1pPr>
            <a:lvl2pPr>
              <a:defRPr sz="2756"/>
            </a:lvl2pPr>
            <a:lvl3pPr>
              <a:defRPr sz="2362"/>
            </a:lvl3pPr>
            <a:lvl4pPr>
              <a:defRPr sz="1968"/>
            </a:lvl4pPr>
            <a:lvl5pPr>
              <a:defRPr sz="1968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743200"/>
            <a:ext cx="2902585" cy="5082117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672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609600"/>
            <a:ext cx="2902585" cy="2133600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1316568"/>
            <a:ext cx="4556016" cy="6498167"/>
          </a:xfrm>
        </p:spPr>
        <p:txBody>
          <a:bodyPr anchor="t"/>
          <a:lstStyle>
            <a:lvl1pPr marL="0" indent="0">
              <a:buNone/>
              <a:defRPr sz="3149"/>
            </a:lvl1pPr>
            <a:lvl2pPr marL="449976" indent="0">
              <a:buNone/>
              <a:defRPr sz="2756"/>
            </a:lvl2pPr>
            <a:lvl3pPr marL="899952" indent="0">
              <a:buNone/>
              <a:defRPr sz="2362"/>
            </a:lvl3pPr>
            <a:lvl4pPr marL="1349929" indent="0">
              <a:buNone/>
              <a:defRPr sz="1968"/>
            </a:lvl4pPr>
            <a:lvl5pPr marL="1799905" indent="0">
              <a:buNone/>
              <a:defRPr sz="1968"/>
            </a:lvl5pPr>
            <a:lvl6pPr marL="2249881" indent="0">
              <a:buNone/>
              <a:defRPr sz="1968"/>
            </a:lvl6pPr>
            <a:lvl7pPr marL="2699857" indent="0">
              <a:buNone/>
              <a:defRPr sz="1968"/>
            </a:lvl7pPr>
            <a:lvl8pPr marL="3149834" indent="0">
              <a:buNone/>
              <a:defRPr sz="1968"/>
            </a:lvl8pPr>
            <a:lvl9pPr marL="3599810" indent="0">
              <a:buNone/>
              <a:defRPr sz="196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743200"/>
            <a:ext cx="2902585" cy="5082117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964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14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486833"/>
            <a:ext cx="1940525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9" y="486833"/>
            <a:ext cx="5709082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803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486835"/>
            <a:ext cx="7762102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2434167"/>
            <a:ext cx="7762102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8475136"/>
            <a:ext cx="2024896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8475136"/>
            <a:ext cx="3037344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8475136"/>
            <a:ext cx="2024896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65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43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988" indent="-224988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1pPr>
      <a:lvl2pPr marL="674964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24941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968" kern="1200">
          <a:solidFill>
            <a:schemeClr val="tx1"/>
          </a:solidFill>
          <a:latin typeface="+mn-lt"/>
          <a:ea typeface="+mn-ea"/>
          <a:cs typeface="+mn-cs"/>
        </a:defRPr>
      </a:lvl3pPr>
      <a:lvl4pPr marL="1574917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2024893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B3D8995-A863-6CC5-4577-6DA69D3AB3C8}"/>
              </a:ext>
            </a:extLst>
          </p:cNvPr>
          <p:cNvSpPr/>
          <p:nvPr/>
        </p:nvSpPr>
        <p:spPr>
          <a:xfrm>
            <a:off x="1217493" y="786580"/>
            <a:ext cx="2488548" cy="5568219"/>
          </a:xfrm>
          <a:prstGeom prst="rect">
            <a:avLst/>
          </a:prstGeom>
          <a:solidFill>
            <a:srgbClr val="E69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6" name="Pfeil nach unten 15">
            <a:extLst>
              <a:ext uri="{FF2B5EF4-FFF2-40B4-BE49-F238E27FC236}">
                <a16:creationId xmlns:a16="http://schemas.microsoft.com/office/drawing/2014/main" id="{0072734A-0D8C-7310-0649-27729D0A796C}"/>
              </a:ext>
            </a:extLst>
          </p:cNvPr>
          <p:cNvSpPr/>
          <p:nvPr/>
        </p:nvSpPr>
        <p:spPr>
          <a:xfrm>
            <a:off x="1706103" y="5138856"/>
            <a:ext cx="471948" cy="1894257"/>
          </a:xfrm>
          <a:prstGeom prst="downArrow">
            <a:avLst/>
          </a:prstGeom>
          <a:solidFill>
            <a:schemeClr val="bg2">
              <a:lumMod val="90000"/>
              <a:alpha val="3478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BEAF265-26D4-53A3-B039-059154D9411E}"/>
              </a:ext>
            </a:extLst>
          </p:cNvPr>
          <p:cNvSpPr/>
          <p:nvPr/>
        </p:nvSpPr>
        <p:spPr>
          <a:xfrm>
            <a:off x="1222495" y="6656208"/>
            <a:ext cx="7091811" cy="1449534"/>
          </a:xfrm>
          <a:prstGeom prst="rect">
            <a:avLst/>
          </a:prstGeom>
          <a:solidFill>
            <a:srgbClr val="D55E00">
              <a:alpha val="1549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C1FF61F6-3A40-6EA4-D2D4-966684B0C19B}"/>
              </a:ext>
            </a:extLst>
          </p:cNvPr>
          <p:cNvSpPr/>
          <p:nvPr/>
        </p:nvSpPr>
        <p:spPr>
          <a:xfrm>
            <a:off x="4290681" y="786580"/>
            <a:ext cx="4023626" cy="5568219"/>
          </a:xfrm>
          <a:prstGeom prst="rect">
            <a:avLst/>
          </a:prstGeom>
          <a:solidFill>
            <a:srgbClr val="CC79A7">
              <a:alpha val="2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C6AEAB5-5D8E-653D-46AF-150B4DF7C411}"/>
              </a:ext>
            </a:extLst>
          </p:cNvPr>
          <p:cNvSpPr/>
          <p:nvPr/>
        </p:nvSpPr>
        <p:spPr>
          <a:xfrm>
            <a:off x="1301183" y="871842"/>
            <a:ext cx="2321171" cy="169329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Model selection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Design a model that matches the research question and fulfills any domain-specific requirements, for example: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control for confounders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capturing aspects of  the data-generating process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goodness of fit, within-sample or out-of-sample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89A1C3-EF5A-C4E2-AE13-2B4B83DAE55F}"/>
              </a:ext>
            </a:extLst>
          </p:cNvPr>
          <p:cNvSpPr/>
          <p:nvPr/>
        </p:nvSpPr>
        <p:spPr>
          <a:xfrm>
            <a:off x="1276870" y="3438209"/>
            <a:ext cx="2321171" cy="111701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Model fitting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Fit the statistical model within your preferred framework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Bayesian model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Frequentist model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machine learning model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E2CBB99-55A3-D5DD-3BE9-4FE1B46073D2}"/>
              </a:ext>
            </a:extLst>
          </p:cNvPr>
          <p:cNvSpPr/>
          <p:nvPr/>
        </p:nvSpPr>
        <p:spPr>
          <a:xfrm>
            <a:off x="4388722" y="865170"/>
            <a:ext cx="3816000" cy="4642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Target quantity selection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Select one or multiple target quantities to answer the research question.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4AA14A7-5BCB-1A0F-8FCA-5C0D41EFFC0E}"/>
              </a:ext>
            </a:extLst>
          </p:cNvPr>
          <p:cNvSpPr/>
          <p:nvPr/>
        </p:nvSpPr>
        <p:spPr>
          <a:xfrm>
            <a:off x="4388723" y="1399942"/>
            <a:ext cx="1558277" cy="84456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Predictions</a:t>
            </a:r>
          </a:p>
          <a:p>
            <a:r>
              <a:rPr lang="en-US" sz="1000" i="1" dirty="0">
                <a:latin typeface="Aptos Narrow" panose="020B0004020202020204" pitchFamily="34" charset="0"/>
              </a:rPr>
              <a:t>What is the expected outcome for different types of people/units?</a:t>
            </a:r>
          </a:p>
          <a:p>
            <a:endParaRPr lang="en-US" sz="1000" dirty="0">
              <a:latin typeface="Aptos Narrow" panose="020B00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AA698FD-C6FC-1159-B189-13E934848419}"/>
              </a:ext>
            </a:extLst>
          </p:cNvPr>
          <p:cNvSpPr/>
          <p:nvPr/>
        </p:nvSpPr>
        <p:spPr>
          <a:xfrm>
            <a:off x="6066521" y="1401872"/>
            <a:ext cx="2140941" cy="84263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Comparisons and slopes</a:t>
            </a:r>
          </a:p>
          <a:p>
            <a:r>
              <a:rPr lang="en-US" sz="1000" i="1" dirty="0">
                <a:latin typeface="Aptos Narrow" panose="020B0004020202020204" pitchFamily="34" charset="0"/>
              </a:rPr>
              <a:t>How does the expected outcome change when one or more predictors change?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3BB34A7-CDEB-7817-44C0-ADE6F68F8743}"/>
              </a:ext>
            </a:extLst>
          </p:cNvPr>
          <p:cNvSpPr/>
          <p:nvPr/>
        </p:nvSpPr>
        <p:spPr>
          <a:xfrm>
            <a:off x="4843598" y="2581778"/>
            <a:ext cx="2917795" cy="156388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Averaging (or not)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Decide for which unites to calculate target quantities.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unit-level estimates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at observed values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at the mean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at representative values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average estimates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subgroup averages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6574F92-94F9-6B1B-0777-A36887BD3D1E}"/>
              </a:ext>
            </a:extLst>
          </p:cNvPr>
          <p:cNvSpPr/>
          <p:nvPr/>
        </p:nvSpPr>
        <p:spPr>
          <a:xfrm>
            <a:off x="1763489" y="7039785"/>
            <a:ext cx="4774980" cy="831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Statistical inference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quantify uncertainty (delta method, bootstrap, simulation-based inference, Bayesian inference)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derive null or equivalence tests on any derived quantities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047653A-6CBA-B49D-F297-9C1458D62B99}"/>
              </a:ext>
            </a:extLst>
          </p:cNvPr>
          <p:cNvSpPr/>
          <p:nvPr/>
        </p:nvSpPr>
        <p:spPr>
          <a:xfrm>
            <a:off x="4596965" y="4440376"/>
            <a:ext cx="3412329" cy="178741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Scale and contrast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Decide on which scale to calculate target quantities. The available options depend on the model type: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link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response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For counterfactual comparisons, decide how the predictions are contrasted: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difference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ratio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874A641-8EFB-346D-BB0C-AB26633EE596}"/>
              </a:ext>
            </a:extLst>
          </p:cNvPr>
          <p:cNvSpPr txBox="1"/>
          <p:nvPr/>
        </p:nvSpPr>
        <p:spPr>
          <a:xfrm>
            <a:off x="1100269" y="491843"/>
            <a:ext cx="2674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E69F00"/>
                </a:solidFill>
                <a:latin typeface="Aptos Narrow" panose="020B0004020202020204" pitchFamily="34" charset="0"/>
              </a:rPr>
              <a:t>Building the prediction machine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FB7266C-F358-C294-52D1-532855E61251}"/>
              </a:ext>
            </a:extLst>
          </p:cNvPr>
          <p:cNvSpPr txBox="1"/>
          <p:nvPr/>
        </p:nvSpPr>
        <p:spPr>
          <a:xfrm>
            <a:off x="4278165" y="485171"/>
            <a:ext cx="3313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C79A7"/>
                </a:solidFill>
                <a:latin typeface="Aptos Narrow" panose="020B0004020202020204" pitchFamily="34" charset="0"/>
              </a:rPr>
              <a:t>Querying the prediction machine</a:t>
            </a:r>
          </a:p>
        </p:txBody>
      </p:sp>
      <p:sp>
        <p:nvSpPr>
          <p:cNvPr id="22" name="Pfeil nach unten 21">
            <a:extLst>
              <a:ext uri="{FF2B5EF4-FFF2-40B4-BE49-F238E27FC236}">
                <a16:creationId xmlns:a16="http://schemas.microsoft.com/office/drawing/2014/main" id="{FD791441-EADF-AA30-9F0C-8BB5C1DF6AC4}"/>
              </a:ext>
            </a:extLst>
          </p:cNvPr>
          <p:cNvSpPr/>
          <p:nvPr/>
        </p:nvSpPr>
        <p:spPr>
          <a:xfrm>
            <a:off x="2225793" y="2564800"/>
            <a:ext cx="471948" cy="893508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5AEE3674-DE6B-65FE-FD29-5DBF55A84D0B}"/>
              </a:ext>
            </a:extLst>
          </p:cNvPr>
          <p:cNvSpPr/>
          <p:nvPr/>
        </p:nvSpPr>
        <p:spPr>
          <a:xfrm>
            <a:off x="5170403" y="2257437"/>
            <a:ext cx="471948" cy="31765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7" name="Pfeil nach unten 26">
            <a:extLst>
              <a:ext uri="{FF2B5EF4-FFF2-40B4-BE49-F238E27FC236}">
                <a16:creationId xmlns:a16="http://schemas.microsoft.com/office/drawing/2014/main" id="{FA0FA04C-7E3A-D4BA-3E37-CA3F36F85688}"/>
              </a:ext>
            </a:extLst>
          </p:cNvPr>
          <p:cNvSpPr/>
          <p:nvPr/>
        </p:nvSpPr>
        <p:spPr>
          <a:xfrm>
            <a:off x="7035487" y="2254336"/>
            <a:ext cx="471948" cy="309029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8" name="Pfeil nach unten 27">
            <a:extLst>
              <a:ext uri="{FF2B5EF4-FFF2-40B4-BE49-F238E27FC236}">
                <a16:creationId xmlns:a16="http://schemas.microsoft.com/office/drawing/2014/main" id="{BE5E73E9-3F8C-EE77-421A-FAF445D84AD6}"/>
              </a:ext>
            </a:extLst>
          </p:cNvPr>
          <p:cNvSpPr/>
          <p:nvPr/>
        </p:nvSpPr>
        <p:spPr>
          <a:xfrm>
            <a:off x="6066520" y="4157387"/>
            <a:ext cx="471948" cy="287171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30" name="Pfeil nach unten 29">
            <a:extLst>
              <a:ext uri="{FF2B5EF4-FFF2-40B4-BE49-F238E27FC236}">
                <a16:creationId xmlns:a16="http://schemas.microsoft.com/office/drawing/2014/main" id="{794D69B6-C8F1-9104-711D-A82480102784}"/>
              </a:ext>
            </a:extLst>
          </p:cNvPr>
          <p:cNvSpPr/>
          <p:nvPr/>
        </p:nvSpPr>
        <p:spPr>
          <a:xfrm>
            <a:off x="6066520" y="6227788"/>
            <a:ext cx="471948" cy="805325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1230AF6-196F-852B-16D7-8990D25D3084}"/>
              </a:ext>
            </a:extLst>
          </p:cNvPr>
          <p:cNvSpPr txBox="1"/>
          <p:nvPr/>
        </p:nvSpPr>
        <p:spPr>
          <a:xfrm>
            <a:off x="1217493" y="6384162"/>
            <a:ext cx="1905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D55E00"/>
                </a:solidFill>
                <a:latin typeface="Aptos Narrow" panose="020B0004020202020204" pitchFamily="34" charset="0"/>
              </a:rPr>
              <a:t>Testing the results</a:t>
            </a:r>
          </a:p>
        </p:txBody>
      </p:sp>
      <p:sp>
        <p:nvSpPr>
          <p:cNvPr id="13" name="Pfeil nach unten 12">
            <a:extLst>
              <a:ext uri="{FF2B5EF4-FFF2-40B4-BE49-F238E27FC236}">
                <a16:creationId xmlns:a16="http://schemas.microsoft.com/office/drawing/2014/main" id="{3CE795CE-EAEB-364E-616B-E7BC4FF8DD0E}"/>
              </a:ext>
            </a:extLst>
          </p:cNvPr>
          <p:cNvSpPr/>
          <p:nvPr/>
        </p:nvSpPr>
        <p:spPr>
          <a:xfrm rot="16200000">
            <a:off x="3872247" y="869460"/>
            <a:ext cx="471948" cy="518473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559ACF5-2662-BC5A-937B-78F607FEE8D8}"/>
              </a:ext>
            </a:extLst>
          </p:cNvPr>
          <p:cNvSpPr txBox="1"/>
          <p:nvPr/>
        </p:nvSpPr>
        <p:spPr>
          <a:xfrm>
            <a:off x="1280271" y="4584858"/>
            <a:ext cx="231777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latin typeface="Aptos Narrow" panose="020B0004020202020204" pitchFamily="34" charset="0"/>
              </a:rPr>
              <a:t>These steps are the same as in the “standard workflow” in which researchers move on to directly interpret coefficients. </a:t>
            </a:r>
          </a:p>
        </p:txBody>
      </p:sp>
      <p:sp>
        <p:nvSpPr>
          <p:cNvPr id="24" name="Nach oben gebogener Pfeil 23">
            <a:extLst>
              <a:ext uri="{FF2B5EF4-FFF2-40B4-BE49-F238E27FC236}">
                <a16:creationId xmlns:a16="http://schemas.microsoft.com/office/drawing/2014/main" id="{50B74537-D8E9-96F8-2744-050254452DD1}"/>
              </a:ext>
            </a:extLst>
          </p:cNvPr>
          <p:cNvSpPr/>
          <p:nvPr/>
        </p:nvSpPr>
        <p:spPr>
          <a:xfrm>
            <a:off x="3610557" y="1038257"/>
            <a:ext cx="375111" cy="4845707"/>
          </a:xfrm>
          <a:prstGeom prst="bentUpArrow">
            <a:avLst>
              <a:gd name="adj1" fmla="val 50000"/>
              <a:gd name="adj2" fmla="val 12440"/>
              <a:gd name="adj3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CC5DBBB-84CE-59AB-4B14-43C00D390583}"/>
              </a:ext>
            </a:extLst>
          </p:cNvPr>
          <p:cNvSpPr txBox="1"/>
          <p:nvPr/>
        </p:nvSpPr>
        <p:spPr>
          <a:xfrm>
            <a:off x="1301183" y="5244283"/>
            <a:ext cx="23454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000" i="1" dirty="0">
              <a:latin typeface="Aptos Narrow" panose="020B0004020202020204" pitchFamily="34" charset="0"/>
            </a:endParaRPr>
          </a:p>
          <a:p>
            <a:pPr algn="r"/>
            <a:r>
              <a:rPr lang="en-US" sz="1000" i="1" dirty="0">
                <a:latin typeface="Aptos Narrow" panose="020B0004020202020204" pitchFamily="34" charset="0"/>
              </a:rPr>
              <a:t>The “prediction machines workflow”  diverges at this point, as the model is interpreted in a with the help of target quantities.</a:t>
            </a:r>
          </a:p>
        </p:txBody>
      </p:sp>
    </p:spTree>
    <p:extLst>
      <p:ext uri="{BB962C8B-B14F-4D97-AF65-F5344CB8AC3E}">
        <p14:creationId xmlns:p14="http://schemas.microsoft.com/office/powerpoint/2010/main" val="4231021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249</Words>
  <Application>Microsoft Macintosh PowerPoint</Application>
  <PresentationFormat>Benutzerdefiniert</PresentationFormat>
  <Paragraphs>44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 Narrow</vt:lpstr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Rohrer</dc:creator>
  <cp:lastModifiedBy>Julia Rohrer</cp:lastModifiedBy>
  <cp:revision>11</cp:revision>
  <dcterms:created xsi:type="dcterms:W3CDTF">2025-10-23T11:45:45Z</dcterms:created>
  <dcterms:modified xsi:type="dcterms:W3CDTF">2025-10-23T14:44:14Z</dcterms:modified>
</cp:coreProperties>
</file>